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59" r:id="rId16"/>
  </p:sldIdLst>
  <p:sldSz cx="12192000" cy="6858000"/>
  <p:notesSz cx="6858000" cy="9144000"/>
  <p:embeddedFontLst>
    <p:embeddedFont>
      <p:font typeface="Lato Black" panose="020F0502020204030203" pitchFamily="34" charset="0"/>
      <p:bold r:id="rId18"/>
      <p:boldItalic r:id="rId19"/>
    </p:embeddedFont>
    <p:embeddedFont>
      <p:font typeface="Libre Baskerville" panose="02000000000000000000" pitchFamily="2" charset="0"/>
      <p:regular r:id="rId20"/>
      <p:bold r:id="rId21"/>
      <p: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3" roundtripDataSignature="AMtx7mhnFQsu0qTBRZ+C47HNp0tuHCNk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39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7" name="Google Shape;2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code/ruchi798/housing-prices-eda-and-prediction/input?select=Hyderabad.csv" TargetMode="Externa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 b="58717"/>
          <a:stretch/>
        </p:blipFill>
        <p:spPr>
          <a:xfrm>
            <a:off x="0" y="-314960"/>
            <a:ext cx="12190815" cy="276352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229064" y="2610546"/>
            <a:ext cx="7246189" cy="3354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br>
              <a:rPr lang="en-IN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Analysis of </a:t>
            </a:r>
            <a:r>
              <a:rPr lang="en-US" sz="6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Residential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Property Data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737812" y="1299172"/>
            <a:ext cx="10856780" cy="4772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 </a:t>
            </a:r>
          </a:p>
          <a:p>
            <a:pPr lvl="2">
              <a:buClr>
                <a:schemeClr val="dk1"/>
              </a:buClr>
              <a:buSzPts val="1800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am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Kadiyala Sai Dheeraj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graduate in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and Machine Learning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R.M.D Engineering College(2025)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2">
              <a:buClr>
                <a:schemeClr val="dk1"/>
              </a:buClr>
              <a:buSzPts val="1800"/>
            </a:pPr>
            <a:endParaRPr lang="en-US" sz="20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lvl="2">
              <a:buClr>
                <a:schemeClr val="dk1"/>
              </a:buClr>
              <a:buSzPts val="1800"/>
            </a:pPr>
            <a:endParaRPr sz="18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lvl="0">
              <a:buClr>
                <a:schemeClr val="dk1"/>
              </a:buClr>
              <a:buSzPts val="18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I want to learn data analysis to transform raw data into meaningful insights that support better decision-making. With my background in AI and Machine Learning, data analysis helps me understand patterns, trends, and business problems, and build data-driven, real-world solutions.</a:t>
            </a:r>
            <a:endParaRPr lang="en-IN" sz="20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endParaRPr lang="en-IN" sz="2000" b="1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endParaRPr lang="en-IN" sz="18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285750" lvl="0" indent="-285750"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r>
              <a:rPr lang="en-IN" sz="1800" b="1" dirty="0" err="1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linkedin</a:t>
            </a: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:https://www.linkedin.com/in/kadiyala-sai-dheeraj-511a26260/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endParaRPr lang="en-IN" sz="18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285750" lvl="0" indent="-285750"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 b="1" dirty="0" err="1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Github</a:t>
            </a: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: https://github.com/saidheeraj97019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endParaRPr sz="18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endParaRPr sz="18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endParaRPr sz="1800" b="1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427656" y="416554"/>
            <a:ext cx="6099463" cy="495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 dirty="0">
                <a:solidFill>
                  <a:srgbClr val="FF0000"/>
                </a:solidFill>
                <a:latin typeface="Times New Roman" panose="02020603050405020304" pitchFamily="18" charset="0"/>
                <a:ea typeface="Lato Black"/>
                <a:cs typeface="Times New Roman" panose="02020603050405020304" pitchFamily="18" charset="0"/>
                <a:sym typeface="Lato Black"/>
              </a:rPr>
              <a:t>About me</a:t>
            </a:r>
            <a:endParaRPr sz="1800" b="0" i="0" u="none" strike="noStrike" cap="none" dirty="0">
              <a:solidFill>
                <a:srgbClr val="FF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E145BB-F198-2F11-F573-795BB4336B31}"/>
              </a:ext>
            </a:extLst>
          </p:cNvPr>
          <p:cNvSpPr txBox="1"/>
          <p:nvPr/>
        </p:nvSpPr>
        <p:spPr>
          <a:xfrm>
            <a:off x="524256" y="560832"/>
            <a:ext cx="11021568" cy="6771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54990" indent="-457200">
              <a:buSzPct val="100000"/>
            </a:pP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session</a:t>
            </a:r>
          </a:p>
          <a:p>
            <a:pPr marL="554990" indent="-457200">
              <a:buSzPct val="100000"/>
            </a:pPr>
            <a:endParaRPr lang="en-US" dirty="0"/>
          </a:p>
          <a:p>
            <a:pPr marL="554990" indent="-457200">
              <a:buSzPct val="100000"/>
            </a:pPr>
            <a:r>
              <a:rPr lang="en-US" dirty="0"/>
              <a:t>                                                </a:t>
            </a:r>
          </a:p>
          <a:p>
            <a:pPr marL="554990" indent="-457200">
              <a:buSzPct val="1000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4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1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Exploration &amp; Initial Assessment</a:t>
            </a:r>
          </a:p>
          <a:p>
            <a:pPr marL="554990" indent="-457200">
              <a:buSzPct val="100000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54990" indent="-457200">
              <a:buSzPct val="100000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54990" indent="-457200"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Python ??</a:t>
            </a:r>
          </a:p>
          <a:p>
            <a:pPr marL="554990" indent="-457200" algn="just">
              <a:buSzPct val="1000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Python is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high-level, open-source programming language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is easy to read and write, and is widely used for data analysis, automation, web development, and artificial intelligence.</a:t>
            </a:r>
          </a:p>
          <a:p>
            <a:pPr marL="554990" indent="-457200">
              <a:buSzPct val="100000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54990" indent="-457200">
              <a:buSzPct val="100000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54990" indent="-457200">
              <a:buSzPct val="100000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54990" indent="-457200"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it is important ??</a:t>
            </a:r>
          </a:p>
          <a:p>
            <a:pPr marL="554990" indent="-457200" algn="just">
              <a:buSzPct val="1000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Python is important because it is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simple, versatile, and powerful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It has a rich set of libraries (like NumPy, Pandas, and Matplotlib) that make data analysis, machine learning, and automation faster and more efficient.</a:t>
            </a:r>
          </a:p>
          <a:p>
            <a:pPr marL="554990" indent="-457200">
              <a:buSzPct val="100000"/>
            </a:pPr>
            <a:endParaRPr lang="en-US" dirty="0"/>
          </a:p>
          <a:p>
            <a:pPr marL="554990" indent="-457200">
              <a:buSzPct val="100000"/>
            </a:pPr>
            <a:endParaRPr lang="en-US" dirty="0"/>
          </a:p>
          <a:p>
            <a:pPr marL="554990" indent="-457200">
              <a:buSzPct val="100000"/>
            </a:pPr>
            <a:endParaRPr lang="en-US" dirty="0"/>
          </a:p>
          <a:p>
            <a:pPr marL="554990" indent="-457200">
              <a:buSzPct val="100000"/>
            </a:pPr>
            <a:endParaRPr lang="en-US" dirty="0"/>
          </a:p>
          <a:p>
            <a:pPr marL="554990" indent="-457200">
              <a:buSzPct val="100000"/>
            </a:pPr>
            <a:endParaRPr lang="en-US" dirty="0"/>
          </a:p>
          <a:p>
            <a:pPr marL="554990" indent="-457200">
              <a:buSzPct val="100000"/>
            </a:pPr>
            <a:endParaRPr lang="en-US" dirty="0"/>
          </a:p>
          <a:p>
            <a:pPr marL="554990" indent="-457200">
              <a:buSzPct val="100000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0164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D448A0-CA6B-2D12-0B7C-171B30E22CBD}"/>
              </a:ext>
            </a:extLst>
          </p:cNvPr>
          <p:cNvSpPr txBox="1"/>
          <p:nvPr/>
        </p:nvSpPr>
        <p:spPr>
          <a:xfrm>
            <a:off x="3962400" y="633984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B79975-0601-1691-D71B-3928130B5D3A}"/>
              </a:ext>
            </a:extLst>
          </p:cNvPr>
          <p:cNvSpPr txBox="1"/>
          <p:nvPr/>
        </p:nvSpPr>
        <p:spPr>
          <a:xfrm>
            <a:off x="560832" y="313943"/>
            <a:ext cx="892454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Data Understanding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Set</a:t>
            </a:r>
            <a:r>
              <a:rPr lang="en-IN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r>
              <a:rPr lang="en-IN" dirty="0"/>
              <a:t>              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FF4061A-6C36-3063-2F85-5B0DEEFB06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881817"/>
              </p:ext>
            </p:extLst>
          </p:nvPr>
        </p:nvGraphicFramePr>
        <p:xfrm>
          <a:off x="1633728" y="1511808"/>
          <a:ext cx="9351264" cy="281940"/>
        </p:xfrm>
        <a:graphic>
          <a:graphicData uri="http://schemas.openxmlformats.org/drawingml/2006/table">
            <a:tbl>
              <a:tblPr/>
              <a:tblGrid>
                <a:gridCol w="9351264">
                  <a:extLst>
                    <a:ext uri="{9D8B030D-6E8A-4147-A177-3AD203B41FA5}">
                      <a16:colId xmlns:a16="http://schemas.microsoft.com/office/drawing/2014/main" val="1750148281"/>
                    </a:ext>
                  </a:extLst>
                </a:gridCol>
              </a:tblGrid>
              <a:tr h="178308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600" u="sng" dirty="0">
                          <a:solidFill>
                            <a:srgbClr val="1155CC"/>
                          </a:solidFill>
                          <a:effectLst/>
                          <a:hlinkClick r:id="rId2"/>
                        </a:rPr>
                        <a:t>https://www.kaggle.com/code/ruchi798/housing-prices-eda-and-prediction/input?select=Hyderabad.csv</a:t>
                      </a:r>
                      <a:endParaRPr lang="en-IN" sz="1600" u="sng" dirty="0">
                        <a:solidFill>
                          <a:srgbClr val="1155CC"/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748003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778DF1E-55B2-BCE6-3923-226934A59F12}"/>
              </a:ext>
            </a:extLst>
          </p:cNvPr>
          <p:cNvSpPr txBox="1"/>
          <p:nvPr/>
        </p:nvSpPr>
        <p:spPr>
          <a:xfrm>
            <a:off x="560832" y="2179796"/>
            <a:ext cx="11143488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Columns available in the data:</a:t>
            </a:r>
          </a:p>
          <a:p>
            <a:pPr lvl="8" algn="just" latinLnBrk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</a:t>
            </a:r>
          </a:p>
          <a:p>
            <a:pPr lvl="8" algn="just" latinLnBrk="1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'Price', 'Area', 'Location', 'No. of Bedrooms', 'Resale’,</a:t>
            </a:r>
          </a:p>
          <a:p>
            <a:pPr lvl="8" algn="just" latinLnBrk="1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'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MaintenanceStaff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 'Gymnasium’, 'Swimming Pool’, '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LandscapedGardens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 '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JoggingTrack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’,</a:t>
            </a:r>
          </a:p>
          <a:p>
            <a:pPr lvl="8" algn="just" latinLnBrk="1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'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RainWaterHarvesting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 '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IndoorGames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 '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ShoppingMall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','Intercom', '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SportsFacility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’,</a:t>
            </a:r>
          </a:p>
          <a:p>
            <a:pPr lvl="8" algn="just" latinLnBrk="1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'ATM', '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ClubHouse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 'School', '24X7Security', '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PowerBackup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 '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CarParking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 '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StaffQuarter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</a:t>
            </a:r>
          </a:p>
          <a:p>
            <a:pPr lvl="8" algn="just" latinLnBrk="1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'Cafeteria', '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MultipurposeRoom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 'Hospital', '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WashingMachine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</a:t>
            </a:r>
          </a:p>
          <a:p>
            <a:pPr lvl="8" algn="just" latinLnBrk="1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'Gasconnection', 'AC', '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Wifi</a:t>
            </a: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', 'Children’s playarea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 '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LiftAvailable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</a:t>
            </a:r>
          </a:p>
          <a:p>
            <a:pPr lvl="8" algn="just" latinLnBrk="1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'BED', '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VaastuCompliant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 'Microwave', '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GolfCourse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 'TV',</a:t>
            </a:r>
          </a:p>
          <a:p>
            <a:pPr lvl="8" algn="just" latinLnBrk="1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'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DiningTable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 'Sofa', 'Wardrobe', 'Refrigerator'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5557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B23540-0933-6669-11F6-6CC2AA0F9194}"/>
              </a:ext>
            </a:extLst>
          </p:cNvPr>
          <p:cNvSpPr txBox="1"/>
          <p:nvPr/>
        </p:nvSpPr>
        <p:spPr>
          <a:xfrm>
            <a:off x="451104" y="414528"/>
            <a:ext cx="10814304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libraries used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DataType</a:t>
            </a: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in each Column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columns are integers except Location, which is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(categorical) data type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Dimension of the data: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consists of  32963 Rows and 40 Columns.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Values: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doesn’t have any missing(NULL) Values.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                                                           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A4985E-8E14-63BE-A468-5D4C919FA177}"/>
              </a:ext>
            </a:extLst>
          </p:cNvPr>
          <p:cNvSpPr txBox="1"/>
          <p:nvPr/>
        </p:nvSpPr>
        <p:spPr>
          <a:xfrm>
            <a:off x="4230624" y="707136"/>
            <a:ext cx="1552028" cy="1883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Seaborn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</a:p>
        </p:txBody>
      </p:sp>
    </p:spTree>
    <p:extLst>
      <p:ext uri="{BB962C8B-B14F-4D97-AF65-F5344CB8AC3E}">
        <p14:creationId xmlns:p14="http://schemas.microsoft.com/office/powerpoint/2010/main" val="1130614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5D40BA-6AEE-BF79-FD8E-2F454E661C96}"/>
              </a:ext>
            </a:extLst>
          </p:cNvPr>
          <p:cNvSpPr txBox="1"/>
          <p:nvPr/>
        </p:nvSpPr>
        <p:spPr>
          <a:xfrm>
            <a:off x="518160" y="280416"/>
            <a:ext cx="11155680" cy="7879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of key fields: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Duplicates:</a:t>
            </a:r>
          </a:p>
          <a:p>
            <a:r>
              <a:rPr lang="en-IN" dirty="0"/>
              <a:t>                            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Dataset consists of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3,828 rows and multiple unwanted columns like 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“Microwave”, “AC”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These columns which doesn’t have any relation to the Price Parameter.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r>
              <a:rPr lang="en-IN" dirty="0"/>
              <a:t>                                                                    </a:t>
            </a:r>
          </a:p>
          <a:p>
            <a:r>
              <a:rPr lang="en-IN" dirty="0"/>
              <a:t>                                                                  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                                      </a:t>
            </a:r>
          </a:p>
          <a:p>
            <a:r>
              <a:rPr lang="en-IN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EDDD72-B38E-93A1-88CE-25DFFAB3BE8F}"/>
              </a:ext>
            </a:extLst>
          </p:cNvPr>
          <p:cNvSpPr txBox="1"/>
          <p:nvPr/>
        </p:nvSpPr>
        <p:spPr>
          <a:xfrm>
            <a:off x="3998976" y="877323"/>
            <a:ext cx="4901184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                 --  Numerical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             -- Categorical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Area                   --  Numerical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of Bedrooms  -- Numerical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43800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B34B25-6836-455D-2CB6-2793D60581A1}"/>
              </a:ext>
            </a:extLst>
          </p:cNvPr>
          <p:cNvSpPr txBox="1"/>
          <p:nvPr/>
        </p:nvSpPr>
        <p:spPr>
          <a:xfrm>
            <a:off x="929148" y="457200"/>
            <a:ext cx="51106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2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&amp; Manipulation</a:t>
            </a:r>
            <a:endParaRPr lang="en-IN" sz="24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4878B3-6A29-737E-6FA3-D16D4FD24245}"/>
              </a:ext>
            </a:extLst>
          </p:cNvPr>
          <p:cNvSpPr txBox="1"/>
          <p:nvPr/>
        </p:nvSpPr>
        <p:spPr>
          <a:xfrm>
            <a:off x="929148" y="1509458"/>
            <a:ext cx="10899058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Summary:</a:t>
            </a: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.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CA3815-A12F-5820-326A-0E147B472741}"/>
              </a:ext>
            </a:extLst>
          </p:cNvPr>
          <p:cNvSpPr txBox="1"/>
          <p:nvPr/>
        </p:nvSpPr>
        <p:spPr>
          <a:xfrm>
            <a:off x="929147" y="2639962"/>
            <a:ext cx="9999407" cy="3076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consists of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3,828 records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both numerical and categorical features.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contains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unnecessary and irrelevant columns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do not contribute to the analysis.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requires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cleaning and preprocessing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before analysis.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is to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patterns and relationships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(such as price vs. location) to extract meaningful insights for data-driven decision making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01206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69AF80-0C78-505A-8D54-EE9B2D07AB04}"/>
              </a:ext>
            </a:extLst>
          </p:cNvPr>
          <p:cNvSpPr txBox="1"/>
          <p:nvPr/>
        </p:nvSpPr>
        <p:spPr>
          <a:xfrm>
            <a:off x="775916" y="598020"/>
            <a:ext cx="10574594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Values: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D27635-5F28-DFFD-EC89-ACEEDC8FB52E}"/>
              </a:ext>
            </a:extLst>
          </p:cNvPr>
          <p:cNvSpPr txBox="1"/>
          <p:nvPr/>
        </p:nvSpPr>
        <p:spPr>
          <a:xfrm>
            <a:off x="1799303" y="1510545"/>
            <a:ext cx="8016938" cy="960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contain any missing values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columns have complete and consistent data, requiring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imputation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A2CBA4-1A64-89E8-F9FF-0E328353E855}"/>
              </a:ext>
            </a:extLst>
          </p:cNvPr>
          <p:cNvSpPr txBox="1"/>
          <p:nvPr/>
        </p:nvSpPr>
        <p:spPr>
          <a:xfrm>
            <a:off x="841490" y="3264180"/>
            <a:ext cx="42262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Duplicates &amp; Inconsistencies: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154279-402C-296C-A44A-8FB465F012C6}"/>
              </a:ext>
            </a:extLst>
          </p:cNvPr>
          <p:cNvSpPr txBox="1"/>
          <p:nvPr/>
        </p:nvSpPr>
        <p:spPr>
          <a:xfrm>
            <a:off x="1799303" y="4047004"/>
            <a:ext cx="10012677" cy="23450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3,828 duplicate records were identified and removed</a:t>
            </a:r>
            <a:r>
              <a:rPr lang="en-US" sz="2000" dirty="0"/>
              <a:t> to ensure data uniqueness.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Location column contained </a:t>
            </a:r>
            <a:r>
              <a:rPr lang="en-US" sz="2000" b="1" dirty="0"/>
              <a:t>inconsistent values</a:t>
            </a:r>
            <a:r>
              <a:rPr lang="en-US" sz="2000" dirty="0"/>
              <a:t> with numbers and extra text.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Regular expressions (Regex)</a:t>
            </a:r>
            <a:r>
              <a:rPr lang="en-US" sz="2000" dirty="0"/>
              <a:t> were used to clean the Location column by: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/>
              <a:t>Removing numeric characters </a:t>
            </a:r>
            <a:r>
              <a:rPr lang="en-IN" sz="2000" i="1" dirty="0"/>
              <a:t>(0–9)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Removing unnecessary text such as </a:t>
            </a:r>
            <a:r>
              <a:rPr lang="en-US" sz="2000" i="1" dirty="0"/>
              <a:t>“Phase”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1102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DA2D1C-17BB-C6F8-9557-B8D8675411D0}"/>
              </a:ext>
            </a:extLst>
          </p:cNvPr>
          <p:cNvSpPr txBox="1"/>
          <p:nvPr/>
        </p:nvSpPr>
        <p:spPr>
          <a:xfrm>
            <a:off x="1091380" y="458956"/>
            <a:ext cx="9129252" cy="7940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Type Corrections:</a:t>
            </a:r>
          </a:p>
          <a:p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Bivariate Insights:</a:t>
            </a:r>
          </a:p>
          <a:p>
            <a:endParaRPr lang="en-I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relationship is observed between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and Location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that property prices vary across different locations.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Certain locations show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average prices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while others are more affordable.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&amp; 3 BHK dominate the market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27DA05-F122-AD60-65EE-E3C11A0613F6}"/>
              </a:ext>
            </a:extLst>
          </p:cNvPr>
          <p:cNvSpPr txBox="1"/>
          <p:nvPr/>
        </p:nvSpPr>
        <p:spPr>
          <a:xfrm>
            <a:off x="1091380" y="1415846"/>
            <a:ext cx="9257663" cy="960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data type corrections were required.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columns were already in their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appropriate and expected data types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analysis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45978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No description has been provided for this image">
            <a:extLst>
              <a:ext uri="{FF2B5EF4-FFF2-40B4-BE49-F238E27FC236}">
                <a16:creationId xmlns:a16="http://schemas.microsoft.com/office/drawing/2014/main" id="{635FD17D-F477-A3BE-6B25-CDA8BB7D48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47" y="180207"/>
            <a:ext cx="5830992" cy="6146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No description has been provided for this image">
            <a:extLst>
              <a:ext uri="{FF2B5EF4-FFF2-40B4-BE49-F238E27FC236}">
                <a16:creationId xmlns:a16="http://schemas.microsoft.com/office/drawing/2014/main" id="{5F70B2F1-AA7E-41FD-1E0A-5276A489BB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0063" y="261323"/>
            <a:ext cx="5830990" cy="6065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49257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No description has been provided for this image">
            <a:extLst>
              <a:ext uri="{FF2B5EF4-FFF2-40B4-BE49-F238E27FC236}">
                <a16:creationId xmlns:a16="http://schemas.microsoft.com/office/drawing/2014/main" id="{A0E90BB7-AC2A-AA96-BFE0-33BFC8C73E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699" y="437766"/>
            <a:ext cx="5257800" cy="5982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No description has been provided for this image">
            <a:extLst>
              <a:ext uri="{FF2B5EF4-FFF2-40B4-BE49-F238E27FC236}">
                <a16:creationId xmlns:a16="http://schemas.microsoft.com/office/drawing/2014/main" id="{D023AF00-2908-7C0D-F2A7-B6C8E2065D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5724" y="298194"/>
            <a:ext cx="5524500" cy="5807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253BFB9-9A33-2849-7A2A-F62B0804C078}"/>
              </a:ext>
            </a:extLst>
          </p:cNvPr>
          <p:cNvSpPr txBox="1"/>
          <p:nvPr/>
        </p:nvSpPr>
        <p:spPr>
          <a:xfrm>
            <a:off x="7610168" y="2094271"/>
            <a:ext cx="19463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 </a:t>
            </a: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Right Skewed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2B027C-8032-90CA-807A-A61DF9A142F6}"/>
              </a:ext>
            </a:extLst>
          </p:cNvPr>
          <p:cNvSpPr txBox="1"/>
          <p:nvPr/>
        </p:nvSpPr>
        <p:spPr>
          <a:xfrm>
            <a:off x="4698590" y="5958569"/>
            <a:ext cx="27948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Univariate Analysis</a:t>
            </a:r>
          </a:p>
        </p:txBody>
      </p:sp>
    </p:spTree>
    <p:extLst>
      <p:ext uri="{BB962C8B-B14F-4D97-AF65-F5344CB8AC3E}">
        <p14:creationId xmlns:p14="http://schemas.microsoft.com/office/powerpoint/2010/main" val="33600330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5FBAF7-3D83-44A6-79B0-48C3B8C36D72}"/>
              </a:ext>
            </a:extLst>
          </p:cNvPr>
          <p:cNvSpPr txBox="1"/>
          <p:nvPr/>
        </p:nvSpPr>
        <p:spPr>
          <a:xfrm>
            <a:off x="786580" y="353962"/>
            <a:ext cx="10618839" cy="107414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 of Bivariate Relationships Discovered:</a:t>
            </a:r>
          </a:p>
          <a:p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Price vs Area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 </a:t>
            </a:r>
          </a:p>
          <a:p>
            <a:pPr lvl="1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</a:t>
            </a:r>
          </a:p>
          <a:p>
            <a:pPr lvl="1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 positive relationship (correlation ≈ 0.27)</a:t>
            </a:r>
          </a:p>
          <a:p>
            <a:pPr lvl="1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Larger properties tend to have higher prices, but area alone does not strongly explain price variation.</a:t>
            </a:r>
          </a:p>
          <a:p>
            <a:pPr lvl="1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(without graphs):</a:t>
            </a:r>
          </a:p>
          <a:p>
            <a:pPr lvl="1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Area is the most influential variable, but its impact on price is limited, indicating other factors also play a role.</a:t>
            </a:r>
          </a:p>
          <a:p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57308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B32F8F-BA9A-6DD7-1433-B535D11BDFD6}"/>
              </a:ext>
            </a:extLst>
          </p:cNvPr>
          <p:cNvSpPr txBox="1"/>
          <p:nvPr/>
        </p:nvSpPr>
        <p:spPr>
          <a:xfrm>
            <a:off x="958645" y="589936"/>
            <a:ext cx="9955161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Price vs Number of Bedrooms:</a:t>
            </a:r>
          </a:p>
          <a:p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Very weak positive relationship (correlation ≈ 0.15)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Increase in bedrooms slightly increases price, but not significantly.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</a:p>
          <a:p>
            <a:r>
              <a:rPr lang="en-US" sz="20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  <a:p>
            <a:endParaRPr lang="en-US" sz="20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Bedrooms likely influence price indirectly through area rather than independently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21097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CE8C1C-94B5-EF3F-E09B-CA201D447E1B}"/>
              </a:ext>
            </a:extLst>
          </p:cNvPr>
          <p:cNvSpPr txBox="1"/>
          <p:nvPr/>
        </p:nvSpPr>
        <p:spPr>
          <a:xfrm>
            <a:off x="1135626" y="796413"/>
            <a:ext cx="9822426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C18D55-F165-2C8E-58FA-5B61128DB932}"/>
              </a:ext>
            </a:extLst>
          </p:cNvPr>
          <p:cNvSpPr txBox="1"/>
          <p:nvPr/>
        </p:nvSpPr>
        <p:spPr>
          <a:xfrm>
            <a:off x="818536" y="1857314"/>
            <a:ext cx="11024420" cy="3730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was successfully cleaned by removing duplicates and correcting inconsistencies in the Location column.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missing values or data type issues were found, ensuring data reliability.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Bivariate analysis revealed that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 significantly influences price variation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analysis provided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clean, consistent data and meaningful insights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support data-driven decision making.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Bivariate analysis revealed weak positive relationships between price and factors such as area and number of bedrooms, while individual amenities showed negligible impact. 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0343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891</Words>
  <Application>Microsoft Office PowerPoint</Application>
  <PresentationFormat>Widescreen</PresentationFormat>
  <Paragraphs>283</Paragraphs>
  <Slides>15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Lato Black</vt:lpstr>
      <vt:lpstr>Times New Roman</vt:lpstr>
      <vt:lpstr>Calibri</vt:lpstr>
      <vt:lpstr>Arial</vt:lpstr>
      <vt:lpstr>Libre Baskerville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Raghu Ram Aduri</dc:creator>
  <cp:lastModifiedBy>Kadiyala sai Dheeraj</cp:lastModifiedBy>
  <cp:revision>9</cp:revision>
  <dcterms:created xsi:type="dcterms:W3CDTF">2021-02-16T05:19:01Z</dcterms:created>
  <dcterms:modified xsi:type="dcterms:W3CDTF">2025-12-19T06:45:51Z</dcterms:modified>
</cp:coreProperties>
</file>